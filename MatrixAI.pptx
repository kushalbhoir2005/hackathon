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askerville Display PT Bold" charset="1" panose="02030702080406020203"/>
      <p:regular r:id="rId15"/>
    </p:embeddedFont>
    <p:embeddedFont>
      <p:font typeface="Literata" charset="1" panose="00000000000000000000"/>
      <p:regular r:id="rId16"/>
    </p:embeddedFont>
    <p:embeddedFont>
      <p:font typeface="Arimo Bold" charset="1" panose="020B0704020202020204"/>
      <p:regular r:id="rId17"/>
    </p:embeddedFont>
    <p:embeddedFont>
      <p:font typeface="Quattrocento" charset="1" panose="02020502030000000404"/>
      <p:regular r:id="rId18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static.vecteezy.com/e996b305d2c70d7a27a915eb058f8c811ebe4dcd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3010" t="0" r="-1301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0A101A">
                    <a:alpha val="90000"/>
                  </a:srgbClr>
                </a:gs>
                <a:gs pos="100000">
                  <a:srgbClr val="1E3A5F">
                    <a:alpha val="6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22019" y="2314575"/>
            <a:ext cx="8843962" cy="1371600"/>
            <a:chOff x="0" y="0"/>
            <a:chExt cx="1179195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9195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791950">
                  <a:moveTo>
                    <a:pt x="0" y="0"/>
                  </a:moveTo>
                  <a:lnTo>
                    <a:pt x="11791950" y="0"/>
                  </a:lnTo>
                  <a:lnTo>
                    <a:pt x="117919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550" r="0" b="-755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22019" y="2464594"/>
            <a:ext cx="8843962" cy="1221581"/>
            <a:chOff x="0" y="0"/>
            <a:chExt cx="11791950" cy="16287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91949" cy="1628775"/>
            </a:xfrm>
            <a:custGeom>
              <a:avLst/>
              <a:gdLst/>
              <a:ahLst/>
              <a:cxnLst/>
              <a:rect r="r" b="b" t="t" l="l"/>
              <a:pathLst>
                <a:path h="1628775" w="11791949">
                  <a:moveTo>
                    <a:pt x="0" y="0"/>
                  </a:moveTo>
                  <a:lnTo>
                    <a:pt x="11791949" y="0"/>
                  </a:lnTo>
                  <a:lnTo>
                    <a:pt x="11791949" y="1628775"/>
                  </a:lnTo>
                  <a:lnTo>
                    <a:pt x="0" y="16287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067" r="0" b="-9106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47650"/>
              <a:ext cx="1179195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68"/>
                </a:lnSpc>
              </a:pPr>
              <a:r>
                <a:rPr lang="en-US" b="true" sz="10800" spc="-75">
                  <a:solidFill>
                    <a:srgbClr val="FFFFFF"/>
                  </a:solidFill>
                  <a:latin typeface="Baskerville Display PT Bold"/>
                  <a:ea typeface="Baskerville Display PT Bold"/>
                  <a:cs typeface="Baskerville Display PT Bold"/>
                  <a:sym typeface="Baskerville Display PT Bold"/>
                </a:rPr>
                <a:t>NEBULON </a:t>
              </a:r>
              <a:r>
                <a:rPr lang="en-US" b="true" sz="10800" spc="-75">
                  <a:solidFill>
                    <a:srgbClr val="22D3EE"/>
                  </a:solidFill>
                  <a:latin typeface="Baskerville Display PT Bold"/>
                  <a:ea typeface="Baskerville Display PT Bold"/>
                  <a:cs typeface="Baskerville Display PT Bold"/>
                  <a:sym typeface="Baskerville Display PT Bold"/>
                </a:rPr>
                <a:t>'26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1874" y="3779044"/>
            <a:ext cx="1828800" cy="57150"/>
            <a:chOff x="0" y="0"/>
            <a:chExt cx="24384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34945" y="5939676"/>
            <a:ext cx="6818119" cy="722233"/>
            <a:chOff x="0" y="0"/>
            <a:chExt cx="9090825" cy="9629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90787" cy="962914"/>
            </a:xfrm>
            <a:custGeom>
              <a:avLst/>
              <a:gdLst/>
              <a:ahLst/>
              <a:cxnLst/>
              <a:rect r="r" b="b" t="t" l="l"/>
              <a:pathLst>
                <a:path h="962914" w="9090787">
                  <a:moveTo>
                    <a:pt x="0" y="0"/>
                  </a:moveTo>
                  <a:lnTo>
                    <a:pt x="9090787" y="0"/>
                  </a:lnTo>
                  <a:lnTo>
                    <a:pt x="9090787" y="962914"/>
                  </a:lnTo>
                  <a:lnTo>
                    <a:pt x="0" y="9629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26" r="0" b="-13383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34945" y="3965238"/>
            <a:ext cx="6818119" cy="722233"/>
            <a:chOff x="0" y="0"/>
            <a:chExt cx="9090825" cy="962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90824" cy="962977"/>
            </a:xfrm>
            <a:custGeom>
              <a:avLst/>
              <a:gdLst/>
              <a:ahLst/>
              <a:cxnLst/>
              <a:rect r="r" b="b" t="t" l="l"/>
              <a:pathLst>
                <a:path h="962977" w="9090824">
                  <a:moveTo>
                    <a:pt x="0" y="0"/>
                  </a:moveTo>
                  <a:lnTo>
                    <a:pt x="9090824" y="0"/>
                  </a:lnTo>
                  <a:lnTo>
                    <a:pt x="9090824" y="962977"/>
                  </a:lnTo>
                  <a:lnTo>
                    <a:pt x="0" y="9629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945" r="0" b="-1339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090825" cy="962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spc="84">
                  <a:solidFill>
                    <a:srgbClr val="E2E8F0"/>
                  </a:solidFill>
                  <a:latin typeface="Literata"/>
                  <a:ea typeface="Literata"/>
                  <a:cs typeface="Literata"/>
                  <a:sym typeface="Literata"/>
                </a:rPr>
                <a:t>Round 2 PPT Submission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05962" y="86411"/>
            <a:ext cx="1842040" cy="1412938"/>
            <a:chOff x="0" y="0"/>
            <a:chExt cx="2456053" cy="18839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56053" cy="1883918"/>
            </a:xfrm>
            <a:custGeom>
              <a:avLst/>
              <a:gdLst/>
              <a:ahLst/>
              <a:cxnLst/>
              <a:rect r="r" b="b" t="t" l="l"/>
              <a:pathLst>
                <a:path h="1883918" w="2456053">
                  <a:moveTo>
                    <a:pt x="0" y="0"/>
                  </a:moveTo>
                  <a:lnTo>
                    <a:pt x="2456053" y="0"/>
                  </a:lnTo>
                  <a:lnTo>
                    <a:pt x="2456053" y="1883918"/>
                  </a:lnTo>
                  <a:lnTo>
                    <a:pt x="0" y="1883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30269" y="64160"/>
            <a:ext cx="1575530" cy="1435227"/>
            <a:chOff x="0" y="0"/>
            <a:chExt cx="2100707" cy="19136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0707" cy="1913636"/>
            </a:xfrm>
            <a:custGeom>
              <a:avLst/>
              <a:gdLst/>
              <a:ahLst/>
              <a:cxnLst/>
              <a:rect r="r" b="b" t="t" l="l"/>
              <a:pathLst>
                <a:path h="1913636" w="2100707">
                  <a:moveTo>
                    <a:pt x="0" y="0"/>
                  </a:moveTo>
                  <a:lnTo>
                    <a:pt x="2100707" y="0"/>
                  </a:lnTo>
                  <a:lnTo>
                    <a:pt x="2100707" y="1913636"/>
                  </a:lnTo>
                  <a:lnTo>
                    <a:pt x="0" y="1913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403186" y="5408295"/>
            <a:ext cx="5187105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Name : Matrix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79126" y="6375502"/>
            <a:ext cx="57527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Members :  Ronit Roy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            Darshan Warke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            Kushal Bhoir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6655" y="5408295"/>
            <a:ext cx="370951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:  PS1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2695" y="6292977"/>
            <a:ext cx="919035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Product Name : SME Business Health &amp; Insights Platform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01" y="86411"/>
            <a:ext cx="3158433" cy="1170889"/>
            <a:chOff x="0" y="0"/>
            <a:chExt cx="4211244" cy="15611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11193" cy="1561211"/>
            </a:xfrm>
            <a:custGeom>
              <a:avLst/>
              <a:gdLst/>
              <a:ahLst/>
              <a:cxnLst/>
              <a:rect r="r" b="b" t="t" l="l"/>
              <a:pathLst>
                <a:path h="1561211" w="4211193">
                  <a:moveTo>
                    <a:pt x="0" y="0"/>
                  </a:moveTo>
                  <a:lnTo>
                    <a:pt x="4211193" y="0"/>
                  </a:lnTo>
                  <a:lnTo>
                    <a:pt x="4211193" y="1561211"/>
                  </a:lnTo>
                  <a:lnTo>
                    <a:pt x="0" y="156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5936" b="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592154" y="73714"/>
            <a:ext cx="3183836" cy="1196292"/>
            <a:chOff x="0" y="0"/>
            <a:chExt cx="4245115" cy="15950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211320" cy="1561211"/>
            </a:xfrm>
            <a:custGeom>
              <a:avLst/>
              <a:gdLst/>
              <a:ahLst/>
              <a:cxnLst/>
              <a:rect r="r" b="b" t="t" l="l"/>
              <a:pathLst>
                <a:path h="1561211" w="4211320">
                  <a:moveTo>
                    <a:pt x="0" y="0"/>
                  </a:moveTo>
                  <a:lnTo>
                    <a:pt x="4211320" y="0"/>
                  </a:lnTo>
                  <a:lnTo>
                    <a:pt x="4211320" y="1561211"/>
                  </a:lnTo>
                  <a:lnTo>
                    <a:pt x="0" y="15612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45102" cy="1594993"/>
            </a:xfrm>
            <a:custGeom>
              <a:avLst/>
              <a:gdLst/>
              <a:ahLst/>
              <a:cxnLst/>
              <a:rect r="r" b="b" t="t" l="l"/>
              <a:pathLst>
                <a:path h="1594993" w="4245102">
                  <a:moveTo>
                    <a:pt x="16891" y="0"/>
                  </a:moveTo>
                  <a:lnTo>
                    <a:pt x="4228211" y="0"/>
                  </a:lnTo>
                  <a:cubicBezTo>
                    <a:pt x="4237609" y="0"/>
                    <a:pt x="4245102" y="7620"/>
                    <a:pt x="4245102" y="16891"/>
                  </a:cubicBezTo>
                  <a:lnTo>
                    <a:pt x="4245102" y="1578102"/>
                  </a:lnTo>
                  <a:cubicBezTo>
                    <a:pt x="4245102" y="1587500"/>
                    <a:pt x="4237482" y="1594993"/>
                    <a:pt x="4228211" y="1594993"/>
                  </a:cubicBezTo>
                  <a:lnTo>
                    <a:pt x="16891" y="1594993"/>
                  </a:lnTo>
                  <a:cubicBezTo>
                    <a:pt x="7620" y="1594993"/>
                    <a:pt x="0" y="1587500"/>
                    <a:pt x="0" y="157810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8102"/>
                  </a:lnTo>
                  <a:lnTo>
                    <a:pt x="16891" y="1578102"/>
                  </a:lnTo>
                  <a:lnTo>
                    <a:pt x="16891" y="1561211"/>
                  </a:lnTo>
                  <a:lnTo>
                    <a:pt x="4228211" y="1561211"/>
                  </a:lnTo>
                  <a:lnTo>
                    <a:pt x="4228211" y="1578102"/>
                  </a:lnTo>
                  <a:lnTo>
                    <a:pt x="4211320" y="1578102"/>
                  </a:lnTo>
                  <a:lnTo>
                    <a:pt x="4211320" y="16891"/>
                  </a:lnTo>
                  <a:lnTo>
                    <a:pt x="4228211" y="16891"/>
                  </a:lnTo>
                  <a:lnTo>
                    <a:pt x="4228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514239" y="86411"/>
            <a:ext cx="3249054" cy="1061409"/>
            <a:chOff x="0" y="0"/>
            <a:chExt cx="4332072" cy="1415212"/>
          </a:xfrm>
        </p:grpSpPr>
        <p:sp>
          <p:nvSpPr>
            <p:cNvPr name="Freeform 32" id="32" descr="RV TechLearn Logo"/>
            <p:cNvSpPr/>
            <p:nvPr/>
          </p:nvSpPr>
          <p:spPr>
            <a:xfrm flipH="false" flipV="false" rot="0">
              <a:off x="0" y="0"/>
              <a:ext cx="4332097" cy="1415161"/>
            </a:xfrm>
            <a:custGeom>
              <a:avLst/>
              <a:gdLst/>
              <a:ahLst/>
              <a:cxnLst/>
              <a:rect r="r" b="b" t="t" l="l"/>
              <a:pathLst>
                <a:path h="1415161" w="4332097">
                  <a:moveTo>
                    <a:pt x="0" y="0"/>
                  </a:moveTo>
                  <a:lnTo>
                    <a:pt x="4332097" y="0"/>
                  </a:lnTo>
                  <a:lnTo>
                    <a:pt x="4332097" y="1415161"/>
                  </a:lnTo>
                  <a:lnTo>
                    <a:pt x="0" y="1415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310" b="-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11042" y="9706375"/>
            <a:ext cx="5265915" cy="603999"/>
            <a:chOff x="0" y="0"/>
            <a:chExt cx="7021220" cy="8053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877" r="0" b="-11987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7021220" cy="891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1500"/>
            <a:ext cx="5657850" cy="685800"/>
            <a:chOff x="0" y="0"/>
            <a:chExt cx="7543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40" r="0" b="-1106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2938"/>
            <a:ext cx="6781800" cy="614362"/>
            <a:chOff x="0" y="0"/>
            <a:chExt cx="9042400" cy="819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2400" cy="819152"/>
            </a:xfrm>
            <a:custGeom>
              <a:avLst/>
              <a:gdLst/>
              <a:ahLst/>
              <a:cxnLst/>
              <a:rect r="r" b="b" t="t" l="l"/>
              <a:pathLst>
                <a:path h="819152" w="9042400">
                  <a:moveTo>
                    <a:pt x="0" y="0"/>
                  </a:moveTo>
                  <a:lnTo>
                    <a:pt x="9042400" y="0"/>
                  </a:lnTo>
                  <a:lnTo>
                    <a:pt x="9042400" y="819152"/>
                  </a:lnTo>
                  <a:lnTo>
                    <a:pt x="0" y="8191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090" r="0" b="-1650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90424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Identified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7377" y="78219"/>
            <a:ext cx="1296638" cy="1112425"/>
            <a:chOff x="0" y="0"/>
            <a:chExt cx="1728851" cy="148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8851" cy="1483233"/>
            </a:xfrm>
            <a:custGeom>
              <a:avLst/>
              <a:gdLst/>
              <a:ahLst/>
              <a:cxnLst/>
              <a:rect r="r" b="b" t="t" l="l"/>
              <a:pathLst>
                <a:path h="1483233" w="1728851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t="0" r="-1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11042" y="9775774"/>
            <a:ext cx="5265915" cy="534610"/>
            <a:chOff x="0" y="0"/>
            <a:chExt cx="7021220" cy="7128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195" cy="712851"/>
            </a:xfrm>
            <a:custGeom>
              <a:avLst/>
              <a:gdLst/>
              <a:ahLst/>
              <a:cxnLst/>
              <a:rect r="r" b="b" t="t" l="l"/>
              <a:pathLst>
                <a:path h="712851" w="7021195">
                  <a:moveTo>
                    <a:pt x="0" y="0"/>
                  </a:moveTo>
                  <a:lnTo>
                    <a:pt x="7021195" y="0"/>
                  </a:lnTo>
                  <a:lnTo>
                    <a:pt x="7021195" y="712851"/>
                  </a:lnTo>
                  <a:lnTo>
                    <a:pt x="0" y="71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786" r="0" b="-14178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11042" y="9706375"/>
            <a:ext cx="5265915" cy="604009"/>
            <a:chOff x="0" y="0"/>
            <a:chExt cx="7021220" cy="805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76" r="0" b="-119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021220" cy="89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0640" y="2284095"/>
            <a:ext cx="15948660" cy="66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092" indent="-241046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</a:t>
            </a: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Inventory Guessing Game: Relying on "gut feeling" for inventory leads to wasted capital on overstocking or missed revenue from stockouts.</a:t>
            </a:r>
          </a:p>
          <a:p>
            <a:pPr algn="just">
              <a:lnSpc>
                <a:spcPts val="4799"/>
              </a:lnSpc>
            </a:pPr>
          </a:p>
          <a:p>
            <a:pPr algn="just" marL="482092" indent="-241046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Literacy Barrier: Owners lack the technical skills (e.g., SQL, Python) needed to extract quick, meaningful answers from their own raw sales data.</a:t>
            </a:r>
          </a:p>
          <a:p>
            <a:pPr algn="just">
              <a:lnSpc>
                <a:spcPts val="4799"/>
              </a:lnSpc>
            </a:pPr>
          </a:p>
          <a:p>
            <a:pPr algn="just" marL="482600" indent="-2413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Fatigue: Traditional software provides static charts and numbers, but fails to tell the business owner what actions to actually take to grow revenue.</a:t>
            </a:r>
          </a:p>
          <a:p>
            <a:pPr algn="just" marL="482600" indent="-241300" lvl="1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1500"/>
            <a:ext cx="5657850" cy="685800"/>
            <a:chOff x="0" y="0"/>
            <a:chExt cx="7543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40" r="0" b="-1106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2938"/>
            <a:ext cx="6781800" cy="614362"/>
            <a:chOff x="0" y="0"/>
            <a:chExt cx="9042400" cy="819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2400" cy="819152"/>
            </a:xfrm>
            <a:custGeom>
              <a:avLst/>
              <a:gdLst/>
              <a:ahLst/>
              <a:cxnLst/>
              <a:rect r="r" b="b" t="t" l="l"/>
              <a:pathLst>
                <a:path h="819152" w="9042400">
                  <a:moveTo>
                    <a:pt x="0" y="0"/>
                  </a:moveTo>
                  <a:lnTo>
                    <a:pt x="9042400" y="0"/>
                  </a:lnTo>
                  <a:lnTo>
                    <a:pt x="9042400" y="819152"/>
                  </a:lnTo>
                  <a:lnTo>
                    <a:pt x="0" y="8191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090" r="0" b="-1650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90424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Solution / Approach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7377" y="78219"/>
            <a:ext cx="1296638" cy="1112425"/>
            <a:chOff x="0" y="0"/>
            <a:chExt cx="1728851" cy="148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8851" cy="1483233"/>
            </a:xfrm>
            <a:custGeom>
              <a:avLst/>
              <a:gdLst/>
              <a:ahLst/>
              <a:cxnLst/>
              <a:rect r="r" b="b" t="t" l="l"/>
              <a:pathLst>
                <a:path h="1483233" w="1728851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t="0" r="-1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11042" y="9775774"/>
            <a:ext cx="5265915" cy="534610"/>
            <a:chOff x="0" y="0"/>
            <a:chExt cx="7021220" cy="7128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195" cy="712851"/>
            </a:xfrm>
            <a:custGeom>
              <a:avLst/>
              <a:gdLst/>
              <a:ahLst/>
              <a:cxnLst/>
              <a:rect r="r" b="b" t="t" l="l"/>
              <a:pathLst>
                <a:path h="712851" w="7021195">
                  <a:moveTo>
                    <a:pt x="0" y="0"/>
                  </a:moveTo>
                  <a:lnTo>
                    <a:pt x="7021195" y="0"/>
                  </a:lnTo>
                  <a:lnTo>
                    <a:pt x="7021195" y="712851"/>
                  </a:lnTo>
                  <a:lnTo>
                    <a:pt x="0" y="71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786" r="0" b="-14178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11042" y="9706375"/>
            <a:ext cx="5265915" cy="604009"/>
            <a:chOff x="0" y="0"/>
            <a:chExt cx="7021220" cy="805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76" r="0" b="-119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021220" cy="89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71500" y="1809750"/>
            <a:ext cx="16885920" cy="794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5931" indent="-222966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Predictive Inventory Forec</a:t>
            </a:r>
            <a:r>
              <a:rPr lang="en-US" sz="3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asting (The ML Approach): We engineered a Machine Learning model that analyzes historical sales, weather, and promotions to mathematically predict exact future demand, completely eliminating the "inventory guessing game."</a:t>
            </a:r>
          </a:p>
          <a:p>
            <a:pPr algn="just">
              <a:lnSpc>
                <a:spcPts val="4439"/>
              </a:lnSpc>
            </a:pPr>
          </a:p>
          <a:p>
            <a:pPr algn="just" marL="445931" indent="-222966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Conversational Data Agent (The Generative AI Approach): Powered by LangChain and Llama 3.1, our platform allows business owners to drag-and-drop raw CSV files and ask plain-English questions to get instant data analysis—bypassing the data literacy barrier with zero SQL or coding required.</a:t>
            </a:r>
          </a:p>
          <a:p>
            <a:pPr algn="just">
              <a:lnSpc>
                <a:spcPts val="4439"/>
              </a:lnSpc>
            </a:pPr>
          </a:p>
          <a:p>
            <a:pPr algn="just" marL="445931" indent="-222966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Actionable Strategy: Instead of stopping at static charts, our data pipeline feeds real-time dashboard metrics directly into our AI to instantly generate concrete, strategic business moves, curing "dashboard fatigue" by telling the owner exactly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1500"/>
            <a:ext cx="5657850" cy="685800"/>
            <a:chOff x="0" y="0"/>
            <a:chExt cx="7543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40" r="0" b="-1106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2938"/>
            <a:ext cx="7620000" cy="614362"/>
            <a:chOff x="0" y="0"/>
            <a:chExt cx="10160000" cy="819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0" cy="819152"/>
            </a:xfrm>
            <a:custGeom>
              <a:avLst/>
              <a:gdLst/>
              <a:ahLst/>
              <a:cxnLst/>
              <a:rect r="r" b="b" t="t" l="l"/>
              <a:pathLst>
                <a:path h="819152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19152"/>
                  </a:lnTo>
                  <a:lnTo>
                    <a:pt x="0" y="8191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74" r="0" b="-19167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01600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7377" y="78219"/>
            <a:ext cx="1296638" cy="1112425"/>
            <a:chOff x="0" y="0"/>
            <a:chExt cx="1728851" cy="148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8851" cy="1483233"/>
            </a:xfrm>
            <a:custGeom>
              <a:avLst/>
              <a:gdLst/>
              <a:ahLst/>
              <a:cxnLst/>
              <a:rect r="r" b="b" t="t" l="l"/>
              <a:pathLst>
                <a:path h="1483233" w="1728851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t="0" r="-1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11042" y="9775774"/>
            <a:ext cx="5265915" cy="534610"/>
            <a:chOff x="0" y="0"/>
            <a:chExt cx="7021220" cy="7128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195" cy="712851"/>
            </a:xfrm>
            <a:custGeom>
              <a:avLst/>
              <a:gdLst/>
              <a:ahLst/>
              <a:cxnLst/>
              <a:rect r="r" b="b" t="t" l="l"/>
              <a:pathLst>
                <a:path h="712851" w="7021195">
                  <a:moveTo>
                    <a:pt x="0" y="0"/>
                  </a:moveTo>
                  <a:lnTo>
                    <a:pt x="7021195" y="0"/>
                  </a:lnTo>
                  <a:lnTo>
                    <a:pt x="7021195" y="712851"/>
                  </a:lnTo>
                  <a:lnTo>
                    <a:pt x="0" y="71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786" r="0" b="-14178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11042" y="9706375"/>
            <a:ext cx="5265915" cy="604009"/>
            <a:chOff x="0" y="0"/>
            <a:chExt cx="7021220" cy="805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76" r="0" b="-119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021220" cy="89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8640" y="2131695"/>
            <a:ext cx="17038320" cy="728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🌐 Client Layer (Frontend): 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HTML5, CSS3, Vanilla JavaScript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Focus: Zero-dependency, lightning-fast UI.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⚙️ Core Engine (Backend): 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&amp; Flask (API Routing)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Pandas (Data Processing &amp; KPI Extraction)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🧠 Intelligence Layer (AI &amp; ML):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(Linear Regression Demand Modeling)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LangChain + NVIDIA Llama 3.1 NIM (Generative AI &amp; Chat Agent)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1500"/>
            <a:ext cx="5657850" cy="685800"/>
            <a:chOff x="0" y="0"/>
            <a:chExt cx="7543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40" r="0" b="-1106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2938"/>
            <a:ext cx="8001000" cy="614362"/>
            <a:chOff x="0" y="0"/>
            <a:chExt cx="10668000" cy="819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8000" cy="819152"/>
            </a:xfrm>
            <a:custGeom>
              <a:avLst/>
              <a:gdLst/>
              <a:ahLst/>
              <a:cxnLst/>
              <a:rect r="r" b="b" t="t" l="l"/>
              <a:pathLst>
                <a:path h="819152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819152"/>
                  </a:lnTo>
                  <a:lnTo>
                    <a:pt x="0" y="8191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758" r="0" b="-2037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06680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Workflow /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7377" y="78219"/>
            <a:ext cx="1296638" cy="1112425"/>
            <a:chOff x="0" y="0"/>
            <a:chExt cx="1728851" cy="148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8851" cy="1483233"/>
            </a:xfrm>
            <a:custGeom>
              <a:avLst/>
              <a:gdLst/>
              <a:ahLst/>
              <a:cxnLst/>
              <a:rect r="r" b="b" t="t" l="l"/>
              <a:pathLst>
                <a:path h="1483233" w="1728851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t="0" r="-1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11042" y="9775774"/>
            <a:ext cx="5265915" cy="534610"/>
            <a:chOff x="0" y="0"/>
            <a:chExt cx="7021220" cy="7128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195" cy="712851"/>
            </a:xfrm>
            <a:custGeom>
              <a:avLst/>
              <a:gdLst/>
              <a:ahLst/>
              <a:cxnLst/>
              <a:rect r="r" b="b" t="t" l="l"/>
              <a:pathLst>
                <a:path h="712851" w="7021195">
                  <a:moveTo>
                    <a:pt x="0" y="0"/>
                  </a:moveTo>
                  <a:lnTo>
                    <a:pt x="7021195" y="0"/>
                  </a:lnTo>
                  <a:lnTo>
                    <a:pt x="7021195" y="712851"/>
                  </a:lnTo>
                  <a:lnTo>
                    <a:pt x="0" y="71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786" r="0" b="-14178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11042" y="9706375"/>
            <a:ext cx="5265915" cy="604009"/>
            <a:chOff x="0" y="0"/>
            <a:chExt cx="7021220" cy="805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76" r="0" b="-119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021220" cy="89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743325" y="1599057"/>
            <a:ext cx="11671350" cy="7659243"/>
          </a:xfrm>
          <a:custGeom>
            <a:avLst/>
            <a:gdLst/>
            <a:ahLst/>
            <a:cxnLst/>
            <a:rect r="r" b="b" t="t" l="l"/>
            <a:pathLst>
              <a:path h="7659243" w="11671350">
                <a:moveTo>
                  <a:pt x="0" y="0"/>
                </a:moveTo>
                <a:lnTo>
                  <a:pt x="11671350" y="0"/>
                </a:lnTo>
                <a:lnTo>
                  <a:pt x="11671350" y="7659243"/>
                </a:lnTo>
                <a:lnTo>
                  <a:pt x="0" y="7659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3" r="0" b="-14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571500"/>
            <a:ext cx="114300" cy="685800"/>
            <a:chOff x="0" y="0"/>
            <a:chExt cx="15240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1500"/>
            <a:ext cx="5657850" cy="685800"/>
            <a:chOff x="0" y="0"/>
            <a:chExt cx="7543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800" cy="914400"/>
            </a:xfrm>
            <a:custGeom>
              <a:avLst/>
              <a:gdLst/>
              <a:ahLst/>
              <a:cxnLst/>
              <a:rect r="r" b="b" t="t" l="l"/>
              <a:pathLst>
                <a:path h="9144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40" r="0" b="-1106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42938"/>
            <a:ext cx="5657850" cy="614362"/>
            <a:chOff x="0" y="0"/>
            <a:chExt cx="7543800" cy="819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43800" cy="819150"/>
            </a:xfrm>
            <a:custGeom>
              <a:avLst/>
              <a:gdLst/>
              <a:ahLst/>
              <a:cxnLst/>
              <a:rect r="r" b="b" t="t" l="l"/>
              <a:pathLst>
                <a:path h="81915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43" r="0" b="-1294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75438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/ Benefits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7377" y="78219"/>
            <a:ext cx="1296638" cy="1112425"/>
            <a:chOff x="0" y="0"/>
            <a:chExt cx="1728851" cy="1483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8851" cy="1483233"/>
            </a:xfrm>
            <a:custGeom>
              <a:avLst/>
              <a:gdLst/>
              <a:ahLst/>
              <a:cxnLst/>
              <a:rect r="r" b="b" t="t" l="l"/>
              <a:pathLst>
                <a:path h="1483233" w="1728851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t="0" r="-17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11042" y="9775774"/>
            <a:ext cx="5265915" cy="534610"/>
            <a:chOff x="0" y="0"/>
            <a:chExt cx="7021220" cy="7128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195" cy="712851"/>
            </a:xfrm>
            <a:custGeom>
              <a:avLst/>
              <a:gdLst/>
              <a:ahLst/>
              <a:cxnLst/>
              <a:rect r="r" b="b" t="t" l="l"/>
              <a:pathLst>
                <a:path h="712851" w="7021195">
                  <a:moveTo>
                    <a:pt x="0" y="0"/>
                  </a:moveTo>
                  <a:lnTo>
                    <a:pt x="7021195" y="0"/>
                  </a:lnTo>
                  <a:lnTo>
                    <a:pt x="7021195" y="712851"/>
                  </a:lnTo>
                  <a:lnTo>
                    <a:pt x="0" y="71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786" r="0" b="-14178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11042" y="9706375"/>
            <a:ext cx="5265915" cy="604009"/>
            <a:chOff x="0" y="0"/>
            <a:chExt cx="7021220" cy="8053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220" cy="805339"/>
            </a:xfrm>
            <a:custGeom>
              <a:avLst/>
              <a:gdLst/>
              <a:ahLst/>
              <a:cxnLst/>
              <a:rect r="r" b="b" t="t" l="l"/>
              <a:pathLst>
                <a:path h="805339" w="7021220">
                  <a:moveTo>
                    <a:pt x="0" y="0"/>
                  </a:moveTo>
                  <a:lnTo>
                    <a:pt x="7021220" y="0"/>
                  </a:lnTo>
                  <a:lnTo>
                    <a:pt x="7021220" y="805339"/>
                  </a:lnTo>
                  <a:lnTo>
                    <a:pt x="0" y="805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876" r="0" b="-119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7021220" cy="891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8640" y="2607945"/>
            <a:ext cx="17076420" cy="69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569" indent="-180784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Decision-Making: Move from "gut feeling" to data-backed strategies using real-time dashboard analytics and AI-generated insights.</a:t>
            </a:r>
          </a:p>
          <a:p>
            <a:pPr algn="l">
              <a:lnSpc>
                <a:spcPts val="3600"/>
              </a:lnSpc>
            </a:pPr>
          </a:p>
          <a:p>
            <a:pPr algn="l" marL="361569" indent="-180784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Efficiency: Instantly identify top-performing products and sales trends, allowing owners to focus resources where they matter most.</a:t>
            </a:r>
          </a:p>
          <a:p>
            <a:pPr algn="l">
              <a:lnSpc>
                <a:spcPts val="3600"/>
              </a:lnSpc>
            </a:pPr>
          </a:p>
          <a:p>
            <a:pPr algn="l" marL="361569" indent="-180784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Manual Work: Automation of data cleaning and KPI calculation eliminates hours of tedious spreadsheet management and manual entry.</a:t>
            </a:r>
          </a:p>
          <a:p>
            <a:pPr algn="l">
              <a:lnSpc>
                <a:spcPts val="3600"/>
              </a:lnSpc>
            </a:pPr>
          </a:p>
          <a:p>
            <a:pPr algn="l" marL="361569" indent="-180784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Predictive Insights: Anticipate market shifts and customer demand using Machine Learning, shifting the business from reactive to proactive.</a:t>
            </a:r>
          </a:p>
          <a:p>
            <a:pPr algn="l">
              <a:lnSpc>
                <a:spcPts val="3600"/>
              </a:lnSpc>
            </a:pPr>
          </a:p>
          <a:p>
            <a:pPr algn="l" marL="361569" indent="-180784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Affordable AI for SMEs: High-end data science capabilities (Llama 3.1 &amp; Scikit-Learn) delivered in a cost-effective, accessible package for small business budgets.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DAHE4kXafb0</dc:identifier>
  <dcterms:modified xsi:type="dcterms:W3CDTF">2011-08-01T06:04:30Z</dcterms:modified>
  <cp:revision>1</cp:revision>
  <dc:title>NEBULON '26 HACKATHON.pptx</dc:title>
</cp:coreProperties>
</file>